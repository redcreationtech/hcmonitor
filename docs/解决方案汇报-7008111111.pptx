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基于对话内容的行为异常检测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和心理变化分析技术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FC3FF"/>
                </a:solidFill>
                <a:latin typeface="PingFang SC"/>
              </a:rPr>
              <a:t>—— 真实算法实现方案与产品实测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D9EA"/>
                </a:solidFill>
                <a:latin typeface="PingFang SC"/>
              </a:rPr>
              <a:t>需求编号：7008111111（中关村新域新质创新挑战赛 · 技术问题难题类）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D9EA"/>
                </a:solidFill>
                <a:latin typeface="PingFang SC"/>
              </a:rPr>
              <a:t>参赛单位：RedCreationTech　　　日期：2026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需求解读与功能映射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需求功能要求三条 + 主要指标三条 → 本方案逐条落地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55680" cy="137160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PingFang SC"/>
              </a:rPr>
              <a:t>功能 1｜分角色识别 + 话题提取 + 语义影响值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PingFang SC"/>
              </a:rPr>
              <a:t>FunASR 中文 ASR（词级时间戳）+ CAM++ 说话人分离 → 真实分角色转写；BERTopic+bge-m3 切话题；影响值=时长占比×情感翻转×矛盾密度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27248"/>
            <a:ext cx="11155680" cy="137160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PingFang SC"/>
              </a:rPr>
              <a:t>功能 2｜语音特征/言语表达异常 + 心理原因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94176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PingFang SC"/>
              </a:rPr>
              <a:t>parselmouth（Praat 内核）提 F0/jitter/shimmer/HNR/语速/停顿 → 个体基线 z-score 突变检测 → 规则库归因（附文献与反事实）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00016"/>
            <a:ext cx="11155680" cy="137160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PingFang SC"/>
              </a:rPr>
              <a:t>功能 3｜不限信号输入：表情/姿态/手部/生理指标异常 + 心理原因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66944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PingFang SC"/>
              </a:rPr>
              <a:t>MediaPipe AU 代理 + RTMPose 躯干 + 手部自适应动作 + rPPG 心率趋势；毫米波/近红外文件级真实解析封顶趋势层；决策级多模态融合升级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1850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主要指标：输入（语音/语音+视频/多模态）✓　方法（单模态/多模态）✓　异常类型（言语表达·语音特征·姿态·手部·表情·生理指标+心理原因分析）✓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方案总览：一套真实管线，两类数据源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以对话内容为驱动要素，不限于单一或多种信号输入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669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▎真实算法链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ASR/分角色/声学/AU/姿态/手部/rPPG/NLI/话题 全部真实推理，非脚本回放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▎单一分析管线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文件导入与 WebRTC 活体采集走同一条离线批分析链路，报告口径一致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▎可解释归因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L1 观察 → L2 候选规则（文献）→ L3 结论含反事实与免责；LLM 仅叙述组装、不产出数值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▎合规口径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非临床诊断声明；双轨基线（现场标定/文献参考）；扩展信号封顶生理趋势层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▎许可安全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全栈 Apache-2.0/MIT/BSD，零授权费，可私有化商用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63040"/>
            <a:ext cx="5212080" cy="46634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00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实测数据源（本轮验证真实使用）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0312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▎录像样例 156s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询问谈话双人对话 mp4（含画面+音轨）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▎录音样例 156s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同场谈话独立录音 m4a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▎近红外序列 152s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fNIRS HbO/HbR 厂商导出件 CSV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▎毫米波序列 152s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60GHz 雷达遥测导出件 CSV（呼吸/心率/体动）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▎WebRTC 活体采集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本机摄像头+麦克风实时采集，采集即入管线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契约不变、引擎替换：前端与报告链路零改动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286000" cy="265176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采集层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68880"/>
            <a:ext cx="20665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文件导入（mp4/m4a/csv）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WebRTC 活体采集落盘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28800"/>
            <a:ext cx="2286000" cy="265176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6596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468880"/>
            <a:ext cx="20665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FFmpeg 统一 16kHz WAV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25fps 抽帧 / 序列对齐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828800"/>
            <a:ext cx="2286000" cy="265176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196596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真实分析链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2468880"/>
            <a:ext cx="20665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语音: FunASR+CAM++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视觉: MediaPipe+RTMPose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生理: rPPG POS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语义: BERTopic+NLI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828800"/>
            <a:ext cx="2286000" cy="265176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96596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融合与归因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468880"/>
            <a:ext cx="20665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决策级时间窗聚合升级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规则库 L2→L3 + LLM 叙述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0" y="1828800"/>
            <a:ext cx="1691640" cy="265176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5288" y="1965960"/>
            <a:ext cx="14721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服务与呈现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5288" y="2468880"/>
            <a:ext cx="147218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FastAPI 实现 /v1 契约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WS 进度广播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F2329"/>
                </a:solidFill>
                <a:latin typeface="PingFang SC"/>
              </a:rPr>
              <a:t>报告起草/审批/导出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▎部署形态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单机一体机（RTX 3060/4060 级即可全链路；CPU 可降级运行语音+视觉基础版），私有化部署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664FF"/>
                </a:solidFill>
                <a:latin typeface="PingFang SC"/>
              </a:rPr>
              <a:t>▎中间产物全留痕  </a:t>
            </a:r>
            <a:r>
              <a:rPr sz="1200" b="0">
                <a:solidFill>
                  <a:srgbClr val="1F2329"/>
                </a:solidFill>
                <a:latin typeface="PingFang SC"/>
              </a:rPr>
              <a:t>转写 JSON/特征 CSV/AU 时序/脉搏波/规则命中清单逐环节落盘，实测可逐环节出示取证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技术路线 ① 语音与言语分析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ASR + 分角色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▎SenseVoiceSmall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非自回归中文 ASR，CPU 17× 实时，词级时间戳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▎CAM++ 分离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3D-Speaker 谱聚类，双人 DER≈4.7%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▎轮次对齐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时间戳∩分离片段，真实 diar 置信度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声学特征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▎parselmouth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F0/jitter/shimmer/HNR（Praat 内核）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▎librosa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能量/静音段/谱质心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▎口径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按 eGeMAPS 定义自复现，避开 openSMILE 商用禁令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言语异常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▎个体基线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前段中位数+MAD，z-score 偏离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▎突变检测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滑窗 z≥2.0 持续≥5s（jitter 2.5）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▎文献支撑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焦虑/抑郁言语特征 Meta 分析（BMC Psychiatry 2024）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语义层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▎话题切分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bge-m3 相似度变化点 + BERTopic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▎矛盾检测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Erlangshen-Roberta-NLI 初筛，≥0.5 放行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▎影响值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时长占比×情感翻转×矛盾密度，四维分解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技术路线 ② 视觉行为与视频生理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面部 AU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▎FaceMesh 478 点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小脸对策：Pose 引导 ROI + 3× 放大，检出率 0%→85%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▎AU4/AU7 代理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眉压/眼睑收紧几何映射，40–500ms 闪现检测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▎头部姿态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solvePnP 欧拉角（偏航/俯仰/翻滚）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姿态与手部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▎RTMPose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躯干后仰角/肩线法线偏离，σ 带基线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▎手部 21 点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手-脸距离+速度几何规则（自触/搓手）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▎冷启动路径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几何规则 → 自标注 100-300 段 → 轻量分类器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rPPG 视频生理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▎POS 算法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rPPG-Toolbox 口径自实现，8s 窗 HR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▎HRV 口径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只报趋势方向，不报 LF/HF 绝对值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▎质量门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光照 CV&gt;0.3 或人脸检出&lt;60% 降级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检测跟踪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▎SCRFD+ByteTrack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单人谈话室稳定框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▎离线逐帧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稳定性优先于实时性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▎许可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全 Apache/MIT，零授权费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技术路线 ③ 扩展信号与融合归因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毫米波雷达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▎文件级真实解析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呼吸/心率遥测列 → 基线/峰值/趋势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▎质量门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体动超阈值区段降级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▎在线契约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MR60BHA2 级模组 UART→JSON（预留）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近红外 fNIRS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▎HbO/HbR 双通道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漂移校正 + z 分数趋势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▎口径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MBLL 厂商导出，认知负荷需任务范式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▎封顶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只出生理趋势层，不进心理归因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多模态融合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▎决策级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45s 滑窗：主信号≥1 且命中模态≥2 → ESCALATED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▎同型合并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60s 内 INFO/WARN 并条降噪，ALERT 保留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▎显式缺失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未命中模态列 ✕，避免「没测=正常」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50292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144475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PingFang SC"/>
              </a:rPr>
              <a:t>可解释归因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874519"/>
            <a:ext cx="2606040" cy="42062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2011680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▎规则库 YAML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L2 条件→L3 心理解释+文献 DOI+反事实+免责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▎LLM 边界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Qwen2.5-7B 私有化仅叙述组装，数值全代码计算</a:t>
            </a: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1664FF"/>
                </a:solidFill>
                <a:latin typeface="PingFang SC"/>
              </a:rPr>
              <a:t>▎幻觉四件套  </a:t>
            </a:r>
            <a:r>
              <a:rPr sz="1050" b="0">
                <a:solidFill>
                  <a:srgbClr val="1F2329"/>
                </a:solidFill>
                <a:latin typeface="PingFang SC"/>
              </a:rPr>
              <a:t>RAG 白名单+JSON Mode+引用回溯+temperature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许可优势：全栈零授权费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招标语境下可私有化商用的合规选型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  <a:gridCol w="3840480"/>
              </a:tblGrid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</a:rPr>
                        <a:t>环节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</a:rPr>
                        <a:t>本方案选型（许可）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SC"/>
                        </a:rPr>
                        <a:t>避开的风险项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声学特征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parselmouth 自复现 eGeMAPS（GPLv3+/ISC）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openSMILE/eGeMAPS 开源版禁止商用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面部 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MediaPipe Face Landmarker（Apache-2.0）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OpenFace 2.0 需 CMU 商用版税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姿态/跟踪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RTMPose / SCRFD+ByteTrack（Apache/MIT）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Ultralytics YOLO AGPL 需企业授权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ASR/分离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FunASR / CAM++（MIT / Apache-2.0）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无 HuggingFace 门禁与署名雷区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LLM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Qwen2.5-7B GGUF 私有化（Apache-2.0）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9"/>
                          </a:solidFill>
                          <a:latin typeface="PingFang SC"/>
                        </a:rPr>
                        <a:t>数据不出域，无 API 依赖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89E0D"/>
                </a:solidFill>
                <a:latin typeface="PingFang SC"/>
              </a:rPr>
              <a:t>结论：全部依赖 Apache-2.0 / MIT / BSD / ISC，私有化商用零授权费，满足「定制研发生产」比选方式。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合规与口径红线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心理分析类系统的三条生命线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▎非临床诊断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界面/报告/导出三处写死「行为与心理状态辅助分析，不构成临床心理诊断」；所有结论标注「模型推断」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▎双轨基线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首选现场静息标定（入席 3-5 分钟中位数作个体基线）；文献参考水平（如 RR 12-20 次/分）仅作区间参照；无标定只出相对升幅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▎扩展信号封顶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毫米波/近红外结论封顶生理趋势层：不进升级、不出心理归因，报告强制标注「离线导入 · 非实时」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▎数据合规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音视频与生理数据按《个人信息保护法》敏感个人信息处理：单独同意、加密存储、脱敏导出、审计哈希链留痕（抽改任一条其后全部断裂）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▎人工终审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NLI 矛盾≠事实矛盾、微表情学术 SOTA F1 仅 0.41-0.45——系统只出「候选解释排序 + 反事实」，最终判断权在使用方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产品界面 · 任务台与多源素材登记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10</a:t>
            </a:r>
          </a:p>
        </p:txBody>
      </p:sp>
      <p:pic>
        <p:nvPicPr>
          <p:cNvPr id="5" name="Picture 4" descr="02_新建会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一次登记 1-4 份素材：音视频为主信号，近红外/毫米波为扩展信号；登记即入分析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服务端 ffprobe 实测时长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登记口径：每份都进分析、都出切片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扩展信号非必填可多选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产品界面 · WebRTC 活体采集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11</a:t>
            </a:r>
          </a:p>
        </p:txBody>
      </p:sp>
      <p:pic>
        <p:nvPicPr>
          <p:cNvPr id="5" name="Picture 4" descr="03_活体采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本机摄像头+麦克风采集，结束后自动进入与文件导入相同的离线批分析管线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采集端只做预览（画面/电平/计时）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报告强制标注来源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双人对话含 1 分钟静息标定段效果最佳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实测结果 · 会话级汇总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12</a:t>
            </a:r>
          </a:p>
        </p:txBody>
      </p:sp>
      <p:pic>
        <p:nvPicPr>
          <p:cNvPr id="5" name="Picture 4" descr="04_结果_汇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四素材 156s 会话真实批分析产物（2026-10-24 11:52 完成）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上报异常 37 条 / 裁撤 4 条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转写 28 轮 / 话题 11 个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峰值严重度 RED（含跨模态聚合升级）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判定口径 real-1.0（真实算法链）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实测结果 · 逐素材切片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13</a:t>
            </a:r>
          </a:p>
        </p:txBody>
      </p:sp>
      <p:pic>
        <p:nvPicPr>
          <p:cNvPr id="5" name="Picture 4" descr="05_结果_素材切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每份文件各跑各的解析链：步骤、模态可用性、质量门、封顶口径逐片列示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视频 6 步/音频 5 步/扩展 4 步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质量降级显式标注（人脸检出率/亮度/体动）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未提供模态列 ✕ 不出 0 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实测结果 · 异常事件列表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14</a:t>
            </a:r>
          </a:p>
        </p:txBody>
      </p:sp>
      <p:pic>
        <p:nvPicPr>
          <p:cNvPr id="5" name="Picture 4" descr="06_结果_异常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真实检测事件：语音特征/语义矛盾/姿态/聚合升级分级列示，点击进三级归因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级别分布 {'ALERT': 26, 'WARN': 6, 'ESCALATED': 4, 'INFO': 1}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模态分布 {'voice': 23, 'semantic': 13, 'pose': 1}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ALERT 逐条保留，INFO/WARN 同型合并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实测结果 · 三级归因抽屉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15</a:t>
            </a:r>
          </a:p>
        </p:txBody>
      </p:sp>
      <p:pic>
        <p:nvPicPr>
          <p:cNvPr id="5" name="Picture 4" descr="08_三级归因抽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L1 观察层（物理量+单位）→ L2 候选规则（文献）→ L3 结论（反事实+免责）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规则库 9 条覆盖六模态+融合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结论=规则命中，LLM 仅叙述组装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导出 CSV 含裁撤条目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实测结果 · 话题与语义影响值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16</a:t>
            </a:r>
          </a:p>
        </p:txBody>
      </p:sp>
      <p:pic>
        <p:nvPicPr>
          <p:cNvPr id="5" name="Picture 4" descr="07_结果_话题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话题边界由 bge-m3 相似度变化点判定（非人工划定），影响值四维分解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影响值仅会话内排序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矛盾对 NLI 判定，≥0.5 放行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边界判定依据逐话题写明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实测结果 · 分析报告与审批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17</a:t>
            </a:r>
          </a:p>
        </p:txBody>
      </p:sp>
      <p:pic>
        <p:nvPicPr>
          <p:cNvPr id="5" name="Picture 4" descr="10_报告详情与审批流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234440"/>
            <a:ext cx="8193024" cy="512064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281160" y="1371600"/>
            <a:ext cx="2514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64FF"/>
                </a:solidFill>
                <a:latin typeface="PingFang SC"/>
              </a:rPr>
              <a:t>批分析完成自动起草 → 提交 → 复核人审批/驳回 → 发布导出，全流程服务端校验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R1：缺文书号 403 拦截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R2：免责章节删除 422 拦截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329"/>
                </a:solidFill>
                <a:latin typeface="PingFang SC"/>
              </a:rPr>
              <a:t>R6：导出落审计哈希链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本轮实测数据一览（真实算法输出）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会话 SES-20261024-001 · 对象 M-121 · 四素材 156s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121408" cy="137160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664FF"/>
                </a:solidFill>
                <a:latin typeface="PingFang SC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上报异常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1463040"/>
            <a:ext cx="2121408" cy="137160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27632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664FF"/>
                </a:solidFill>
                <a:latin typeface="PingFang SC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395728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分角色转写轮次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463040"/>
            <a:ext cx="2121408" cy="137160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627632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664FF"/>
                </a:solidFill>
                <a:latin typeface="PingFang SC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395728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话题边界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8624" y="1463040"/>
            <a:ext cx="2121408" cy="137160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1627632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664FF"/>
                </a:solidFill>
                <a:latin typeface="PingFang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2395728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素材切片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37192" y="1463040"/>
            <a:ext cx="2121408" cy="1371600"/>
          </a:xfrm>
          <a:prstGeom prst="rect">
            <a:avLst/>
          </a:prstGeom>
          <a:solidFill>
            <a:srgbClr val="F0F6FF"/>
          </a:solidFill>
          <a:ln w="9525">
            <a:solidFill>
              <a:srgbClr val="16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1627632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F1322"/>
                </a:solidFill>
                <a:latin typeface="PingFang SC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395728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峰值严重度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200400"/>
          <a:ext cx="14036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788920"/>
                <a:gridCol w="2788920"/>
                <a:gridCol w="2788920"/>
              </a:tblGrid>
              <a:tr h="3352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典型事件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级别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模态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ingFang SC"/>
                        </a:rPr>
                        <a:t>置信度</a:t>
                      </a:r>
                    </a:p>
                  </a:txBody>
                  <a:tcPr>
                    <a:solidFill>
                      <a:srgbClr val="1664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音调较基线降低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ALERT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voice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0.79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音调较基线降低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WARN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跨模态同窗聚合升级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ESCALATED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semantic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0.95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静默段（音量低于-45dB）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音高波动较基线收窄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ALERT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voice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0.99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音高波动较基线收窄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WARN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信息前后矛盾（NLI 不一致）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ALERT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semantic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0.99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音调较基线降低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329"/>
                          </a:solidFill>
                          <a:latin typeface="PingFang SC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实测考察 · 验证方式与中间产物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「主要考察参赛方提供的行为异常检测能力」——逐环节可出示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852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664FF"/>
                </a:solidFill>
                <a:latin typeface="PingFang SC"/>
              </a:rPr>
              <a:t>▎文件样例端到端  </a:t>
            </a:r>
            <a:r>
              <a:rPr sz="1250" b="0">
                <a:solidFill>
                  <a:srgbClr val="1F2329"/>
                </a:solidFill>
                <a:latin typeface="PingFang SC"/>
              </a:rPr>
              <a:t>四素材登记→真实批分析→逐素材切片→异常列表→三级归因→报告导出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50" b="1">
                <a:solidFill>
                  <a:srgbClr val="1664FF"/>
                </a:solidFill>
                <a:latin typeface="PingFang SC"/>
              </a:rPr>
              <a:t>▎WebRTC 活体采集  </a:t>
            </a:r>
            <a:r>
              <a:rPr sz="1250" b="0">
                <a:solidFill>
                  <a:srgbClr val="1F2329"/>
                </a:solidFill>
                <a:latin typeface="PingFang SC"/>
              </a:rPr>
              <a:t>现场双人对话（含静息标定段）→ 采集即入同一管线 → 同口径报告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50" b="1">
                <a:solidFill>
                  <a:srgbClr val="1664FF"/>
                </a:solidFill>
                <a:latin typeface="PingFang SC"/>
              </a:rPr>
              <a:t>▎单环节可复算  </a:t>
            </a:r>
            <a:r>
              <a:rPr sz="1250" b="0">
                <a:solidFill>
                  <a:srgbClr val="1F2329"/>
                </a:solidFill>
                <a:latin typeface="PingFang SC"/>
              </a:rPr>
              <a:t>任一条异常可回放定位到素材时间点，中间产物齐全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463040"/>
            <a:ext cx="5029200" cy="46634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664FF"/>
                </a:solidFill>
                <a:latin typeface="PingFang SC"/>
              </a:rPr>
              <a:t>每环节可出示的中间产物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057400"/>
            <a:ext cx="45720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turns.json（转写+词级时间戳+分离置信度）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features.csv（逐窗声学特征与基线）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au_series.csv / pose_series.csv（时序）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waveform.csv / hr_series.csv（rPPG）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mmwave/nir 趋势序列与质量门记录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contradictions.json（NLI 逐对分数）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F2329"/>
                </a:solidFill>
                <a:latin typeface="PingFang SC"/>
              </a:rPr>
              <a:t>规则命中清单 + 审计哈希链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/>
              </a:rPr>
              <a:t>交付内容与计划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定制研发（市场无标准化产品，可按需求方场景定制）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PingFang S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5836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▎已交付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真实算法分析系统（文件导入+活体采集双链路，可现场实测）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▎方案文档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真实实现优化方案设计（技术路线/契约/口径/风险）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▎后续定制项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毫米波/fNIRS 硬件在线接入与时空同步；现场标定工具；标注回流迭代手部动作模型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▎部署支持  </a:t>
            </a:r>
            <a:r>
              <a:rPr sz="1300" b="0">
                <a:solidFill>
                  <a:srgbClr val="1F2329"/>
                </a:solidFill>
                <a:latin typeface="PingFang SC"/>
              </a:rPr>
              <a:t>单机一体机私有化部署，数据不出域</a:t>
            </a:r>
          </a:p>
          <a:p>
            <a:pPr algn="l">
              <a:lnSpc>
                <a:spcPct val="112000"/>
              </a:lnSpc>
            </a:pPr>
            <a:r>
              <a:rPr sz="600" b="0">
                <a:solidFill>
                  <a:srgbClr val="1F2329"/>
                </a:solidFill>
                <a:latin typeface="PingFang S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463040"/>
            <a:ext cx="4297680" cy="4663440"/>
          </a:xfrm>
          <a:prstGeom prst="rect">
            <a:avLst/>
          </a:prstGeom>
          <a:solidFill>
            <a:srgbClr val="F0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002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64FF"/>
                </a:solidFill>
                <a:latin typeface="PingFang SC"/>
              </a:rPr>
              <a:t>联系方式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103120"/>
            <a:ext cx="3840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329"/>
                </a:solidFill>
                <a:latin typeface="PingFang SC"/>
              </a:rPr>
              <a:t>RedCreationTech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（此处放置联系人/电话/邮箱）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1F2329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需求编号：7008111111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PingFang SC"/>
              </a:rPr>
              <a:t>比选方式：文字解决方案 + 产品实测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